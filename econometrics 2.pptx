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39"/>
    <p:restoredTop sz="94645"/>
  </p:normalViewPr>
  <p:slideViewPr>
    <p:cSldViewPr snapToGrid="0">
      <p:cViewPr varScale="1">
        <p:scale>
          <a:sx n="53" d="100"/>
          <a:sy n="53" d="100"/>
        </p:scale>
        <p:origin x="184" y="1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12/5/25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96613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12/5/25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70854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12/5/25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946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12/5/25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51932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12/5/25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61714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12/5/25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34508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12/5/25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34875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12/5/25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88385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12/5/25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95412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12/5/25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851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12/5/25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612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12/5/25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34089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5" r:id="rId6"/>
    <p:sldLayoutId id="2147483690" r:id="rId7"/>
    <p:sldLayoutId id="2147483691" r:id="rId8"/>
    <p:sldLayoutId id="2147483692" r:id="rId9"/>
    <p:sldLayoutId id="2147483694"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5CA3F569-0FA7-39EA-1CE6-F20FFBE3989A}"/>
              </a:ext>
            </a:extLst>
          </p:cNvPr>
          <p:cNvSpPr>
            <a:spLocks noGrp="1"/>
          </p:cNvSpPr>
          <p:nvPr>
            <p:ph type="ctrTitle"/>
          </p:nvPr>
        </p:nvSpPr>
        <p:spPr>
          <a:xfrm>
            <a:off x="640080" y="1371600"/>
            <a:ext cx="4670661" cy="3030842"/>
          </a:xfrm>
        </p:spPr>
        <p:style>
          <a:lnRef idx="0">
            <a:scrgbClr r="0" g="0" b="0"/>
          </a:lnRef>
          <a:fillRef idx="0">
            <a:scrgbClr r="0" g="0" b="0"/>
          </a:fillRef>
          <a:effectRef idx="0">
            <a:scrgbClr r="0" g="0" b="0"/>
          </a:effectRef>
          <a:fontRef idx="minor">
            <a:schemeClr val="accent1"/>
          </a:fontRef>
        </p:style>
        <p:txBody>
          <a:bodyPr>
            <a:normAutofit/>
          </a:bodyPr>
          <a:lstStyle/>
          <a:p>
            <a:pPr>
              <a:lnSpc>
                <a:spcPct val="90000"/>
              </a:lnSpc>
            </a:pPr>
            <a:r>
              <a:rPr lang="en-GB" sz="3400" noProof="0" dirty="0"/>
              <a:t>Early Warning Indicators of Currency Crises:</a:t>
            </a:r>
            <a:br>
              <a:rPr lang="en-GB" sz="3400" noProof="0" dirty="0"/>
            </a:br>
            <a:r>
              <a:rPr lang="en-GB" sz="3400" noProof="0" dirty="0"/>
              <a:t>A Pilot Analysis of the M2 Money Multiplier</a:t>
            </a:r>
            <a:br>
              <a:rPr lang="en-GB" sz="3400" noProof="0" dirty="0"/>
            </a:br>
            <a:endParaRPr lang="en-GB" sz="3400" noProof="0" dirty="0"/>
          </a:p>
        </p:txBody>
      </p:sp>
      <p:sp>
        <p:nvSpPr>
          <p:cNvPr id="3" name="Alt Başlık 2">
            <a:extLst>
              <a:ext uri="{FF2B5EF4-FFF2-40B4-BE49-F238E27FC236}">
                <a16:creationId xmlns:a16="http://schemas.microsoft.com/office/drawing/2014/main" id="{A2D76B49-A585-48D5-2E85-8C28EACF0D38}"/>
              </a:ext>
            </a:extLst>
          </p:cNvPr>
          <p:cNvSpPr>
            <a:spLocks noGrp="1"/>
          </p:cNvSpPr>
          <p:nvPr>
            <p:ph type="subTitle" idx="1"/>
          </p:nvPr>
        </p:nvSpPr>
        <p:spPr>
          <a:xfrm>
            <a:off x="640080" y="4201886"/>
            <a:ext cx="4670660" cy="2198913"/>
          </a:xfrm>
        </p:spPr>
        <p:txBody>
          <a:bodyPr>
            <a:normAutofit/>
          </a:bodyPr>
          <a:lstStyle/>
          <a:p>
            <a:r>
              <a:rPr lang="en-GB" sz="1200" noProof="0" dirty="0"/>
              <a:t>Author: Nihad İsgandarli</a:t>
            </a:r>
          </a:p>
          <a:p>
            <a:r>
              <a:rPr lang="en-GB" sz="1200" noProof="0" dirty="0"/>
              <a:t>Course: Econometrics 2</a:t>
            </a:r>
            <a:endParaRPr lang="en-GB" noProof="0" dirty="0"/>
          </a:p>
        </p:txBody>
      </p:sp>
      <p:cxnSp>
        <p:nvCxnSpPr>
          <p:cNvPr id="23" name="Straight Connector 2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5" name="Picture 3" descr="Soyut bir kavram">
            <a:extLst>
              <a:ext uri="{FF2B5EF4-FFF2-40B4-BE49-F238E27FC236}">
                <a16:creationId xmlns:a16="http://schemas.microsoft.com/office/drawing/2014/main" id="{CEE0F5F7-7477-B3E0-21F2-AD2312012CE0}"/>
              </a:ext>
            </a:extLst>
          </p:cNvPr>
          <p:cNvPicPr>
            <a:picLocks noChangeAspect="1"/>
          </p:cNvPicPr>
          <p:nvPr/>
        </p:nvPicPr>
        <p:blipFill>
          <a:blip r:embed="rId2"/>
          <a:srcRect l="11771" r="5451"/>
          <a:stretch>
            <a:fillRect/>
          </a:stretch>
        </p:blipFill>
        <p:spPr>
          <a:xfrm>
            <a:off x="6515100" y="10"/>
            <a:ext cx="5676900" cy="6857990"/>
          </a:xfrm>
          <a:prstGeom prst="rect">
            <a:avLst/>
          </a:prstGeom>
        </p:spPr>
      </p:pic>
    </p:spTree>
    <p:extLst>
      <p:ext uri="{BB962C8B-B14F-4D97-AF65-F5344CB8AC3E}">
        <p14:creationId xmlns:p14="http://schemas.microsoft.com/office/powerpoint/2010/main" val="244268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8C66FF-D45A-A9CE-8429-C81D5E1DC66E}"/>
              </a:ext>
            </a:extLst>
          </p:cNvPr>
          <p:cNvSpPr>
            <a:spLocks noGrp="1"/>
          </p:cNvSpPr>
          <p:nvPr>
            <p:ph type="title"/>
          </p:nvPr>
        </p:nvSpPr>
        <p:spPr/>
        <p:txBody>
          <a:bodyPr/>
          <a:lstStyle/>
          <a:p>
            <a:r>
              <a:rPr lang="en-GB" noProof="0" dirty="0"/>
              <a:t>Introduction</a:t>
            </a:r>
          </a:p>
        </p:txBody>
      </p:sp>
      <p:sp>
        <p:nvSpPr>
          <p:cNvPr id="3" name="İçerik Yer Tutucusu 2">
            <a:extLst>
              <a:ext uri="{FF2B5EF4-FFF2-40B4-BE49-F238E27FC236}">
                <a16:creationId xmlns:a16="http://schemas.microsoft.com/office/drawing/2014/main" id="{FEC23ED5-9943-B100-8CF0-26F9680F72BF}"/>
              </a:ext>
            </a:extLst>
          </p:cNvPr>
          <p:cNvSpPr>
            <a:spLocks noGrp="1"/>
          </p:cNvSpPr>
          <p:nvPr>
            <p:ph idx="1"/>
          </p:nvPr>
        </p:nvSpPr>
        <p:spPr/>
        <p:txBody>
          <a:bodyPr>
            <a:normAutofit fontScale="92500" lnSpcReduction="10000"/>
          </a:bodyPr>
          <a:lstStyle/>
          <a:p>
            <a:r>
              <a:rPr lang="en-GB" noProof="0" dirty="0">
                <a:latin typeface="Aptos" panose="020B0004020202020204" pitchFamily="34" charset="0"/>
              </a:rPr>
              <a:t>Currency crises remain one of the most damaging macroeconomic events for emerging markets.</a:t>
            </a:r>
          </a:p>
          <a:p>
            <a:r>
              <a:rPr lang="en-GB" noProof="0" dirty="0">
                <a:latin typeface="Aptos" panose="020B0004020202020204" pitchFamily="34" charset="0"/>
              </a:rPr>
              <a:t>Early Warning Systems (EWS) traditionally rely on indicators such as credit growth, FX reserves and exchange rate misalignment.</a:t>
            </a:r>
          </a:p>
          <a:p>
            <a:r>
              <a:rPr lang="en-GB" noProof="0" dirty="0">
                <a:latin typeface="Aptos" panose="020B0004020202020204" pitchFamily="34" charset="0"/>
              </a:rPr>
              <a:t>However, money-creation fragility captured by the M2 money multiplier has received little empirical attention.</a:t>
            </a:r>
          </a:p>
          <a:p>
            <a:r>
              <a:rPr lang="en-GB" noProof="0" dirty="0">
                <a:latin typeface="Aptos" panose="020B0004020202020204" pitchFamily="34" charset="0"/>
              </a:rPr>
              <a:t>A rising multiplier may indicate growing liquidity vulnerability making economies more exposed to sudden stops and sharp depreciations.</a:t>
            </a:r>
          </a:p>
          <a:p>
            <a:r>
              <a:rPr lang="en-GB" noProof="0" dirty="0">
                <a:latin typeface="Aptos" panose="020B0004020202020204" pitchFamily="34" charset="0"/>
              </a:rPr>
              <a:t>This project explores whether the M2 multiplier can provide predictive information for currency crises.</a:t>
            </a:r>
          </a:p>
          <a:p>
            <a:endParaRPr lang="en-GB" noProof="0" dirty="0"/>
          </a:p>
        </p:txBody>
      </p:sp>
    </p:spTree>
    <p:extLst>
      <p:ext uri="{BB962C8B-B14F-4D97-AF65-F5344CB8AC3E}">
        <p14:creationId xmlns:p14="http://schemas.microsoft.com/office/powerpoint/2010/main" val="3301599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2F53BB-FFCA-ED03-09D2-3E95B166853D}"/>
              </a:ext>
            </a:extLst>
          </p:cNvPr>
          <p:cNvSpPr>
            <a:spLocks noGrp="1"/>
          </p:cNvSpPr>
          <p:nvPr>
            <p:ph type="title"/>
          </p:nvPr>
        </p:nvSpPr>
        <p:spPr/>
        <p:txBody>
          <a:bodyPr>
            <a:normAutofit fontScale="90000"/>
          </a:bodyPr>
          <a:lstStyle/>
          <a:p>
            <a:r>
              <a:rPr lang="en-GB" noProof="0" dirty="0"/>
              <a:t>Does the M2 money multiplier help predict currency crises?</a:t>
            </a:r>
            <a:br>
              <a:rPr lang="en-GB" noProof="0" dirty="0"/>
            </a:br>
            <a:endParaRPr lang="en-GB" noProof="0" dirty="0"/>
          </a:p>
        </p:txBody>
      </p:sp>
      <p:sp>
        <p:nvSpPr>
          <p:cNvPr id="3" name="İçerik Yer Tutucusu 2">
            <a:extLst>
              <a:ext uri="{FF2B5EF4-FFF2-40B4-BE49-F238E27FC236}">
                <a16:creationId xmlns:a16="http://schemas.microsoft.com/office/drawing/2014/main" id="{6E9A360B-AE61-9EF2-E227-7113427BFB75}"/>
              </a:ext>
            </a:extLst>
          </p:cNvPr>
          <p:cNvSpPr>
            <a:spLocks noGrp="1"/>
          </p:cNvSpPr>
          <p:nvPr>
            <p:ph idx="1"/>
          </p:nvPr>
        </p:nvSpPr>
        <p:spPr/>
        <p:txBody>
          <a:bodyPr/>
          <a:lstStyle/>
          <a:p>
            <a:r>
              <a:rPr lang="en-GB" noProof="0" dirty="0">
                <a:latin typeface="Aptos" panose="020B0004020202020204" pitchFamily="34" charset="0"/>
              </a:rPr>
              <a:t>Does the multiplier add predictive power beyond traditional EWS indicators (credit growth, reserves and FX misalignment)?</a:t>
            </a:r>
          </a:p>
          <a:p>
            <a:r>
              <a:rPr lang="en-GB" noProof="0" dirty="0">
                <a:latin typeface="Aptos" panose="020B0004020202020204" pitchFamily="34" charset="0"/>
              </a:rPr>
              <a:t>Is its effect stronger when reserve adequacy is low?</a:t>
            </a:r>
          </a:p>
          <a:p>
            <a:endParaRPr lang="en-GB" noProof="0" dirty="0"/>
          </a:p>
        </p:txBody>
      </p:sp>
    </p:spTree>
    <p:extLst>
      <p:ext uri="{BB962C8B-B14F-4D97-AF65-F5344CB8AC3E}">
        <p14:creationId xmlns:p14="http://schemas.microsoft.com/office/powerpoint/2010/main" val="1386637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BB76352-5CD0-9E1D-F222-E3FE536F2BFD}"/>
              </a:ext>
            </a:extLst>
          </p:cNvPr>
          <p:cNvSpPr>
            <a:spLocks noGrp="1"/>
          </p:cNvSpPr>
          <p:nvPr>
            <p:ph type="title"/>
          </p:nvPr>
        </p:nvSpPr>
        <p:spPr>
          <a:xfrm>
            <a:off x="640080" y="1371600"/>
            <a:ext cx="5737859" cy="1097280"/>
          </a:xfrm>
        </p:spPr>
        <p:txBody>
          <a:bodyPr vert="horz" lIns="91440" tIns="45720" rIns="91440" bIns="45720" rtlCol="0">
            <a:normAutofit/>
          </a:bodyPr>
          <a:lstStyle/>
          <a:p>
            <a:endParaRPr lang="en-GB" noProof="0"/>
          </a:p>
        </p:txBody>
      </p:sp>
      <p:cxnSp>
        <p:nvCxnSpPr>
          <p:cNvPr id="22" name="Straight Connector 2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C8356762-1758-CF66-5A57-C95E9A4C77E0}"/>
              </a:ext>
            </a:extLst>
          </p:cNvPr>
          <p:cNvSpPr>
            <a:spLocks noGrp="1"/>
          </p:cNvSpPr>
          <p:nvPr>
            <p:ph idx="1"/>
          </p:nvPr>
        </p:nvSpPr>
        <p:spPr>
          <a:xfrm>
            <a:off x="640080" y="2633236"/>
            <a:ext cx="5737860" cy="3666980"/>
          </a:xfrm>
        </p:spPr>
        <p:txBody>
          <a:bodyPr>
            <a:normAutofit fontScale="55000" lnSpcReduction="20000"/>
          </a:bodyPr>
          <a:lstStyle/>
          <a:p>
            <a:r>
              <a:rPr lang="tr-TR" sz="2600" dirty="0" err="1">
                <a:latin typeface="Aptos" panose="020B0004020202020204" pitchFamily="34" charset="0"/>
              </a:rPr>
              <a:t>Italy</a:t>
            </a:r>
            <a:r>
              <a:rPr lang="tr-TR" sz="2600" dirty="0">
                <a:latin typeface="Aptos" panose="020B0004020202020204" pitchFamily="34" charset="0"/>
              </a:rPr>
              <a:t> </a:t>
            </a:r>
            <a:r>
              <a:rPr lang="tr-TR" sz="2600" dirty="0" err="1">
                <a:latin typeface="Aptos" panose="020B0004020202020204" pitchFamily="34" charset="0"/>
              </a:rPr>
              <a:t>shows</a:t>
            </a:r>
            <a:r>
              <a:rPr lang="tr-TR" sz="2600" dirty="0">
                <a:latin typeface="Aptos" panose="020B0004020202020204" pitchFamily="34" charset="0"/>
              </a:rPr>
              <a:t> </a:t>
            </a:r>
            <a:r>
              <a:rPr lang="tr-TR" sz="2600" dirty="0" err="1">
                <a:latin typeface="Aptos" panose="020B0004020202020204" pitchFamily="34" charset="0"/>
              </a:rPr>
              <a:t>stable</a:t>
            </a:r>
            <a:r>
              <a:rPr lang="tr-TR" sz="2600" dirty="0">
                <a:latin typeface="Aptos" panose="020B0004020202020204" pitchFamily="34" charset="0"/>
              </a:rPr>
              <a:t> </a:t>
            </a:r>
            <a:r>
              <a:rPr lang="tr-TR" sz="2600" dirty="0" err="1">
                <a:latin typeface="Aptos" panose="020B0004020202020204" pitchFamily="34" charset="0"/>
              </a:rPr>
              <a:t>and</a:t>
            </a:r>
            <a:r>
              <a:rPr lang="tr-TR" sz="2600" dirty="0">
                <a:latin typeface="Aptos" panose="020B0004020202020204" pitchFamily="34" charset="0"/>
              </a:rPr>
              <a:t> </a:t>
            </a:r>
            <a:r>
              <a:rPr lang="tr-TR" sz="2600" dirty="0" err="1">
                <a:latin typeface="Aptos" panose="020B0004020202020204" pitchFamily="34" charset="0"/>
              </a:rPr>
              <a:t>low</a:t>
            </a:r>
            <a:r>
              <a:rPr lang="tr-TR" sz="2600" dirty="0">
                <a:latin typeface="Aptos" panose="020B0004020202020204" pitchFamily="34" charset="0"/>
              </a:rPr>
              <a:t> M2 </a:t>
            </a:r>
            <a:r>
              <a:rPr lang="tr-TR" sz="2600" dirty="0" err="1">
                <a:latin typeface="Aptos" panose="020B0004020202020204" pitchFamily="34" charset="0"/>
              </a:rPr>
              <a:t>growth</a:t>
            </a:r>
            <a:r>
              <a:rPr lang="tr-TR" sz="2600" dirty="0">
                <a:latin typeface="Aptos" panose="020B0004020202020204" pitchFamily="34" charset="0"/>
              </a:rPr>
              <a:t> </a:t>
            </a:r>
            <a:r>
              <a:rPr lang="tr-TR" sz="2600" dirty="0" err="1">
                <a:latin typeface="Aptos" panose="020B0004020202020204" pitchFamily="34" charset="0"/>
              </a:rPr>
              <a:t>throughout</a:t>
            </a:r>
            <a:r>
              <a:rPr lang="tr-TR" sz="2600" dirty="0">
                <a:latin typeface="Aptos" panose="020B0004020202020204" pitchFamily="34" charset="0"/>
              </a:rPr>
              <a:t> </a:t>
            </a:r>
            <a:r>
              <a:rPr lang="tr-TR" sz="2600" dirty="0" err="1">
                <a:latin typeface="Aptos" panose="020B0004020202020204" pitchFamily="34" charset="0"/>
              </a:rPr>
              <a:t>the</a:t>
            </a:r>
            <a:r>
              <a:rPr lang="tr-TR" sz="2600" dirty="0">
                <a:latin typeface="Aptos" panose="020B0004020202020204" pitchFamily="34" charset="0"/>
              </a:rPr>
              <a:t> </a:t>
            </a:r>
            <a:r>
              <a:rPr lang="tr-TR" sz="2600" dirty="0" err="1">
                <a:latin typeface="Aptos" panose="020B0004020202020204" pitchFamily="34" charset="0"/>
              </a:rPr>
              <a:t>period</a:t>
            </a:r>
            <a:r>
              <a:rPr lang="tr-TR" sz="2600" dirty="0">
                <a:latin typeface="Aptos" panose="020B0004020202020204" pitchFamily="34" charset="0"/>
              </a:rPr>
              <a:t> </a:t>
            </a:r>
            <a:r>
              <a:rPr lang="tr-TR" sz="2600" dirty="0" err="1">
                <a:latin typeface="Aptos" panose="020B0004020202020204" pitchFamily="34" charset="0"/>
              </a:rPr>
              <a:t>that</a:t>
            </a:r>
            <a:r>
              <a:rPr lang="tr-TR" sz="2600" dirty="0">
                <a:latin typeface="Aptos" panose="020B0004020202020204" pitchFamily="34" charset="0"/>
              </a:rPr>
              <a:t> </a:t>
            </a:r>
            <a:r>
              <a:rPr lang="tr-TR" sz="2600" dirty="0" err="1">
                <a:latin typeface="Aptos" panose="020B0004020202020204" pitchFamily="34" charset="0"/>
              </a:rPr>
              <a:t>indicating</a:t>
            </a:r>
            <a:r>
              <a:rPr lang="tr-TR" sz="2600" dirty="0">
                <a:latin typeface="Aptos" panose="020B0004020202020204" pitchFamily="34" charset="0"/>
              </a:rPr>
              <a:t> </a:t>
            </a:r>
            <a:r>
              <a:rPr lang="tr-TR" sz="2600" dirty="0" err="1">
                <a:latin typeface="Aptos" panose="020B0004020202020204" pitchFamily="34" charset="0"/>
              </a:rPr>
              <a:t>predictable</a:t>
            </a:r>
            <a:r>
              <a:rPr lang="tr-TR" sz="2600" dirty="0">
                <a:latin typeface="Aptos" panose="020B0004020202020204" pitchFamily="34" charset="0"/>
              </a:rPr>
              <a:t> </a:t>
            </a:r>
            <a:r>
              <a:rPr lang="tr-TR" sz="2600" dirty="0" err="1">
                <a:latin typeface="Aptos" panose="020B0004020202020204" pitchFamily="34" charset="0"/>
              </a:rPr>
              <a:t>monetary</a:t>
            </a:r>
            <a:r>
              <a:rPr lang="tr-TR" sz="2600" dirty="0">
                <a:latin typeface="Aptos" panose="020B0004020202020204" pitchFamily="34" charset="0"/>
              </a:rPr>
              <a:t> </a:t>
            </a:r>
            <a:r>
              <a:rPr lang="tr-TR" sz="2600" dirty="0" err="1">
                <a:latin typeface="Aptos" panose="020B0004020202020204" pitchFamily="34" charset="0"/>
              </a:rPr>
              <a:t>conditions</a:t>
            </a:r>
            <a:r>
              <a:rPr lang="tr-TR" sz="2600" dirty="0">
                <a:latin typeface="Aptos" panose="020B0004020202020204" pitchFamily="34" charset="0"/>
              </a:rPr>
              <a:t> </a:t>
            </a:r>
            <a:r>
              <a:rPr lang="tr-TR" sz="2600" dirty="0" err="1">
                <a:latin typeface="Aptos" panose="020B0004020202020204" pitchFamily="34" charset="0"/>
              </a:rPr>
              <a:t>and</a:t>
            </a:r>
            <a:r>
              <a:rPr lang="tr-TR" sz="2600" dirty="0">
                <a:latin typeface="Aptos" panose="020B0004020202020204" pitchFamily="34" charset="0"/>
              </a:rPr>
              <a:t> </a:t>
            </a:r>
            <a:r>
              <a:rPr lang="tr-TR" sz="2600" dirty="0" err="1">
                <a:latin typeface="Aptos" panose="020B0004020202020204" pitchFamily="34" charset="0"/>
              </a:rPr>
              <a:t>low</a:t>
            </a:r>
            <a:r>
              <a:rPr lang="tr-TR" sz="2600" dirty="0">
                <a:latin typeface="Aptos" panose="020B0004020202020204" pitchFamily="34" charset="0"/>
              </a:rPr>
              <a:t> </a:t>
            </a:r>
            <a:r>
              <a:rPr lang="tr-TR" sz="2600" dirty="0" err="1">
                <a:latin typeface="Aptos" panose="020B0004020202020204" pitchFamily="34" charset="0"/>
              </a:rPr>
              <a:t>volatility</a:t>
            </a:r>
            <a:r>
              <a:rPr lang="tr-TR" sz="2600" dirty="0">
                <a:latin typeface="Aptos" panose="020B0004020202020204" pitchFamily="34" charset="0"/>
              </a:rPr>
              <a:t> in </a:t>
            </a:r>
            <a:r>
              <a:rPr lang="tr-TR" sz="2600" dirty="0" err="1">
                <a:latin typeface="Aptos" panose="020B0004020202020204" pitchFamily="34" charset="0"/>
              </a:rPr>
              <a:t>liquidity</a:t>
            </a:r>
            <a:r>
              <a:rPr lang="tr-TR" sz="2600" dirty="0">
                <a:latin typeface="Aptos" panose="020B0004020202020204" pitchFamily="34" charset="0"/>
              </a:rPr>
              <a:t>.</a:t>
            </a:r>
          </a:p>
          <a:p>
            <a:r>
              <a:rPr lang="tr-TR" sz="2600" dirty="0" err="1">
                <a:latin typeface="Aptos" panose="020B0004020202020204" pitchFamily="34" charset="0"/>
              </a:rPr>
              <a:t>Turkey</a:t>
            </a:r>
            <a:r>
              <a:rPr lang="tr-TR" sz="2600" dirty="0">
                <a:latin typeface="Aptos" panose="020B0004020202020204" pitchFamily="34" charset="0"/>
              </a:rPr>
              <a:t> </a:t>
            </a:r>
            <a:r>
              <a:rPr lang="tr-TR" sz="2600" dirty="0" err="1">
                <a:latin typeface="Aptos" panose="020B0004020202020204" pitchFamily="34" charset="0"/>
              </a:rPr>
              <a:t>displays</a:t>
            </a:r>
            <a:r>
              <a:rPr lang="tr-TR" sz="2600" dirty="0">
                <a:latin typeface="Aptos" panose="020B0004020202020204" pitchFamily="34" charset="0"/>
              </a:rPr>
              <a:t> </a:t>
            </a:r>
            <a:r>
              <a:rPr lang="tr-TR" sz="2600" dirty="0" err="1">
                <a:latin typeface="Aptos" panose="020B0004020202020204" pitchFamily="34" charset="0"/>
              </a:rPr>
              <a:t>high</a:t>
            </a:r>
            <a:r>
              <a:rPr lang="tr-TR" sz="2600" dirty="0">
                <a:latin typeface="Aptos" panose="020B0004020202020204" pitchFamily="34" charset="0"/>
              </a:rPr>
              <a:t> </a:t>
            </a:r>
            <a:r>
              <a:rPr lang="tr-TR" sz="2600" dirty="0" err="1">
                <a:latin typeface="Aptos" panose="020B0004020202020204" pitchFamily="34" charset="0"/>
              </a:rPr>
              <a:t>and</a:t>
            </a:r>
            <a:r>
              <a:rPr lang="tr-TR" sz="2600" dirty="0">
                <a:latin typeface="Aptos" panose="020B0004020202020204" pitchFamily="34" charset="0"/>
              </a:rPr>
              <a:t> </a:t>
            </a:r>
            <a:r>
              <a:rPr lang="tr-TR" sz="2600" dirty="0" err="1">
                <a:latin typeface="Aptos" panose="020B0004020202020204" pitchFamily="34" charset="0"/>
              </a:rPr>
              <a:t>volatile</a:t>
            </a:r>
            <a:r>
              <a:rPr lang="tr-TR" sz="2600" dirty="0">
                <a:latin typeface="Aptos" panose="020B0004020202020204" pitchFamily="34" charset="0"/>
              </a:rPr>
              <a:t> M2 </a:t>
            </a:r>
            <a:r>
              <a:rPr lang="tr-TR" sz="2600" dirty="0" err="1">
                <a:latin typeface="Aptos" panose="020B0004020202020204" pitchFamily="34" charset="0"/>
              </a:rPr>
              <a:t>growth</a:t>
            </a:r>
            <a:r>
              <a:rPr lang="tr-TR" sz="2600" dirty="0">
                <a:latin typeface="Aptos" panose="020B0004020202020204" pitchFamily="34" charset="0"/>
              </a:rPr>
              <a:t> </a:t>
            </a:r>
            <a:r>
              <a:rPr lang="tr-TR" sz="2600" dirty="0" err="1">
                <a:latin typeface="Aptos" panose="020B0004020202020204" pitchFamily="34" charset="0"/>
              </a:rPr>
              <a:t>with</a:t>
            </a:r>
            <a:r>
              <a:rPr lang="tr-TR" sz="2600" dirty="0">
                <a:latin typeface="Aptos" panose="020B0004020202020204" pitchFamily="34" charset="0"/>
              </a:rPr>
              <a:t> </a:t>
            </a:r>
            <a:r>
              <a:rPr lang="tr-TR" sz="2600" dirty="0" err="1">
                <a:latin typeface="Aptos" panose="020B0004020202020204" pitchFamily="34" charset="0"/>
              </a:rPr>
              <a:t>noticeable</a:t>
            </a:r>
            <a:r>
              <a:rPr lang="tr-TR" sz="2600" dirty="0">
                <a:latin typeface="Aptos" panose="020B0004020202020204" pitchFamily="34" charset="0"/>
              </a:rPr>
              <a:t> </a:t>
            </a:r>
            <a:r>
              <a:rPr lang="tr-TR" sz="2600" dirty="0" err="1">
                <a:latin typeface="Aptos" panose="020B0004020202020204" pitchFamily="34" charset="0"/>
              </a:rPr>
              <a:t>spikes</a:t>
            </a:r>
            <a:r>
              <a:rPr lang="tr-TR" sz="2600" dirty="0">
                <a:latin typeface="Aptos" panose="020B0004020202020204" pitchFamily="34" charset="0"/>
              </a:rPr>
              <a:t> </a:t>
            </a:r>
            <a:r>
              <a:rPr lang="tr-TR" sz="2600" dirty="0" err="1">
                <a:latin typeface="Aptos" panose="020B0004020202020204" pitchFamily="34" charset="0"/>
              </a:rPr>
              <a:t>especially</a:t>
            </a:r>
            <a:r>
              <a:rPr lang="tr-TR" sz="2600" dirty="0">
                <a:latin typeface="Aptos" panose="020B0004020202020204" pitchFamily="34" charset="0"/>
              </a:rPr>
              <a:t> </a:t>
            </a:r>
            <a:r>
              <a:rPr lang="tr-TR" sz="2600" dirty="0" err="1">
                <a:latin typeface="Aptos" panose="020B0004020202020204" pitchFamily="34" charset="0"/>
              </a:rPr>
              <a:t>around</a:t>
            </a:r>
            <a:r>
              <a:rPr lang="tr-TR" sz="2600" dirty="0">
                <a:latin typeface="Aptos" panose="020B0004020202020204" pitchFamily="34" charset="0"/>
              </a:rPr>
              <a:t> 2018 </a:t>
            </a:r>
            <a:r>
              <a:rPr lang="tr-TR" sz="2600" dirty="0" err="1">
                <a:latin typeface="Aptos" panose="020B0004020202020204" pitchFamily="34" charset="0"/>
              </a:rPr>
              <a:t>and</a:t>
            </a:r>
            <a:r>
              <a:rPr lang="tr-TR" sz="2600" dirty="0">
                <a:latin typeface="Aptos" panose="020B0004020202020204" pitchFamily="34" charset="0"/>
              </a:rPr>
              <a:t> 2020 </a:t>
            </a:r>
            <a:r>
              <a:rPr lang="tr-TR" sz="2600" dirty="0" err="1">
                <a:latin typeface="Aptos" panose="020B0004020202020204" pitchFamily="34" charset="0"/>
              </a:rPr>
              <a:t>reflecting</a:t>
            </a:r>
            <a:r>
              <a:rPr lang="tr-TR" sz="2600" dirty="0">
                <a:latin typeface="Aptos" panose="020B0004020202020204" pitchFamily="34" charset="0"/>
              </a:rPr>
              <a:t> </a:t>
            </a:r>
            <a:r>
              <a:rPr lang="tr-TR" sz="2600" dirty="0" err="1">
                <a:latin typeface="Aptos" panose="020B0004020202020204" pitchFamily="34" charset="0"/>
              </a:rPr>
              <a:t>policy</a:t>
            </a:r>
            <a:r>
              <a:rPr lang="tr-TR" sz="2600" dirty="0">
                <a:latin typeface="Aptos" panose="020B0004020202020204" pitchFamily="34" charset="0"/>
              </a:rPr>
              <a:t> </a:t>
            </a:r>
            <a:r>
              <a:rPr lang="tr-TR" sz="2600" dirty="0" err="1">
                <a:latin typeface="Aptos" panose="020B0004020202020204" pitchFamily="34" charset="0"/>
              </a:rPr>
              <a:t>uncertainty</a:t>
            </a:r>
            <a:r>
              <a:rPr lang="tr-TR" sz="2600" dirty="0">
                <a:latin typeface="Aptos" panose="020B0004020202020204" pitchFamily="34" charset="0"/>
              </a:rPr>
              <a:t>, </a:t>
            </a:r>
            <a:r>
              <a:rPr lang="tr-TR" sz="2600" dirty="0" err="1">
                <a:latin typeface="Aptos" panose="020B0004020202020204" pitchFamily="34" charset="0"/>
              </a:rPr>
              <a:t>inflationary</a:t>
            </a:r>
            <a:r>
              <a:rPr lang="tr-TR" sz="2600" dirty="0">
                <a:latin typeface="Aptos" panose="020B0004020202020204" pitchFamily="34" charset="0"/>
              </a:rPr>
              <a:t> </a:t>
            </a:r>
            <a:r>
              <a:rPr lang="tr-TR" sz="2600" dirty="0" err="1">
                <a:latin typeface="Aptos" panose="020B0004020202020204" pitchFamily="34" charset="0"/>
              </a:rPr>
              <a:t>pressures</a:t>
            </a:r>
            <a:r>
              <a:rPr lang="tr-TR" sz="2600" dirty="0">
                <a:latin typeface="Aptos" panose="020B0004020202020204" pitchFamily="34" charset="0"/>
              </a:rPr>
              <a:t> </a:t>
            </a:r>
            <a:r>
              <a:rPr lang="tr-TR" sz="2600" dirty="0" err="1">
                <a:latin typeface="Aptos" panose="020B0004020202020204" pitchFamily="34" charset="0"/>
              </a:rPr>
              <a:t>and</a:t>
            </a:r>
            <a:r>
              <a:rPr lang="tr-TR" sz="2600" dirty="0">
                <a:latin typeface="Aptos" panose="020B0004020202020204" pitchFamily="34" charset="0"/>
              </a:rPr>
              <a:t> </a:t>
            </a:r>
            <a:r>
              <a:rPr lang="tr-TR" sz="2600" dirty="0" err="1">
                <a:latin typeface="Aptos" panose="020B0004020202020204" pitchFamily="34" charset="0"/>
              </a:rPr>
              <a:t>reactive</a:t>
            </a:r>
            <a:r>
              <a:rPr lang="tr-TR" sz="2600" dirty="0">
                <a:latin typeface="Aptos" panose="020B0004020202020204" pitchFamily="34" charset="0"/>
              </a:rPr>
              <a:t> </a:t>
            </a:r>
            <a:r>
              <a:rPr lang="tr-TR" sz="2600" dirty="0" err="1">
                <a:latin typeface="Aptos" panose="020B0004020202020204" pitchFamily="34" charset="0"/>
              </a:rPr>
              <a:t>monetary</a:t>
            </a:r>
            <a:r>
              <a:rPr lang="tr-TR" sz="2600" dirty="0">
                <a:latin typeface="Aptos" panose="020B0004020202020204" pitchFamily="34" charset="0"/>
              </a:rPr>
              <a:t> </a:t>
            </a:r>
            <a:r>
              <a:rPr lang="tr-TR" sz="2600" dirty="0" err="1">
                <a:latin typeface="Aptos" panose="020B0004020202020204" pitchFamily="34" charset="0"/>
              </a:rPr>
              <a:t>interventions</a:t>
            </a:r>
            <a:r>
              <a:rPr lang="tr-TR" sz="2600" dirty="0">
                <a:latin typeface="Aptos" panose="020B0004020202020204" pitchFamily="34" charset="0"/>
              </a:rPr>
              <a:t>.</a:t>
            </a:r>
          </a:p>
          <a:p>
            <a:r>
              <a:rPr lang="tr-TR" sz="2600" dirty="0">
                <a:latin typeface="Aptos" panose="020B0004020202020204" pitchFamily="34" charset="0"/>
              </a:rPr>
              <a:t>United </a:t>
            </a:r>
            <a:r>
              <a:rPr lang="tr-TR" sz="2600" dirty="0" err="1">
                <a:latin typeface="Aptos" panose="020B0004020202020204" pitchFamily="34" charset="0"/>
              </a:rPr>
              <a:t>States</a:t>
            </a:r>
            <a:r>
              <a:rPr lang="tr-TR" sz="2600" dirty="0">
                <a:latin typeface="Aptos" panose="020B0004020202020204" pitchFamily="34" charset="0"/>
              </a:rPr>
              <a:t> has </a:t>
            </a:r>
            <a:r>
              <a:rPr lang="tr-TR" sz="2600" dirty="0" err="1">
                <a:latin typeface="Aptos" panose="020B0004020202020204" pitchFamily="34" charset="0"/>
              </a:rPr>
              <a:t>moderate</a:t>
            </a:r>
            <a:r>
              <a:rPr lang="tr-TR" sz="2600" dirty="0">
                <a:latin typeface="Aptos" panose="020B0004020202020204" pitchFamily="34" charset="0"/>
              </a:rPr>
              <a:t> </a:t>
            </a:r>
            <a:r>
              <a:rPr lang="tr-TR" sz="2600" dirty="0" err="1">
                <a:latin typeface="Aptos" panose="020B0004020202020204" pitchFamily="34" charset="0"/>
              </a:rPr>
              <a:t>volatility</a:t>
            </a:r>
            <a:r>
              <a:rPr lang="tr-TR" sz="2600" dirty="0">
                <a:latin typeface="Aptos" panose="020B0004020202020204" pitchFamily="34" charset="0"/>
              </a:rPr>
              <a:t> </a:t>
            </a:r>
            <a:r>
              <a:rPr lang="tr-TR" sz="2600" dirty="0" err="1">
                <a:latin typeface="Aptos" panose="020B0004020202020204" pitchFamily="34" charset="0"/>
              </a:rPr>
              <a:t>with</a:t>
            </a:r>
            <a:r>
              <a:rPr lang="tr-TR" sz="2600" dirty="0">
                <a:latin typeface="Aptos" panose="020B0004020202020204" pitchFamily="34" charset="0"/>
              </a:rPr>
              <a:t> a </a:t>
            </a:r>
            <a:r>
              <a:rPr lang="tr-TR" sz="2600" dirty="0" err="1">
                <a:latin typeface="Aptos" panose="020B0004020202020204" pitchFamily="34" charset="0"/>
              </a:rPr>
              <a:t>sharp</a:t>
            </a:r>
            <a:r>
              <a:rPr lang="tr-TR" sz="2600" dirty="0">
                <a:latin typeface="Aptos" panose="020B0004020202020204" pitchFamily="34" charset="0"/>
              </a:rPr>
              <a:t> </a:t>
            </a:r>
            <a:r>
              <a:rPr lang="tr-TR" sz="2600" dirty="0" err="1">
                <a:latin typeface="Aptos" panose="020B0004020202020204" pitchFamily="34" charset="0"/>
              </a:rPr>
              <a:t>spike</a:t>
            </a:r>
            <a:r>
              <a:rPr lang="tr-TR" sz="2600" dirty="0">
                <a:latin typeface="Aptos" panose="020B0004020202020204" pitchFamily="34" charset="0"/>
              </a:rPr>
              <a:t> </a:t>
            </a:r>
            <a:r>
              <a:rPr lang="tr-TR" sz="2600" dirty="0" err="1">
                <a:latin typeface="Aptos" panose="020B0004020202020204" pitchFamily="34" charset="0"/>
              </a:rPr>
              <a:t>during</a:t>
            </a:r>
            <a:r>
              <a:rPr lang="tr-TR" sz="2600" dirty="0">
                <a:latin typeface="Aptos" panose="020B0004020202020204" pitchFamily="34" charset="0"/>
              </a:rPr>
              <a:t> 2020Q2 </a:t>
            </a:r>
            <a:r>
              <a:rPr lang="tr-TR" sz="2600" dirty="0" err="1">
                <a:latin typeface="Aptos" panose="020B0004020202020204" pitchFamily="34" charset="0"/>
              </a:rPr>
              <a:t>related</a:t>
            </a:r>
            <a:r>
              <a:rPr lang="tr-TR" sz="2600" dirty="0">
                <a:latin typeface="Aptos" panose="020B0004020202020204" pitchFamily="34" charset="0"/>
              </a:rPr>
              <a:t> </a:t>
            </a:r>
            <a:r>
              <a:rPr lang="tr-TR" sz="2600" dirty="0" err="1">
                <a:latin typeface="Aptos" panose="020B0004020202020204" pitchFamily="34" charset="0"/>
              </a:rPr>
              <a:t>to</a:t>
            </a:r>
            <a:r>
              <a:rPr lang="tr-TR" sz="2600" dirty="0">
                <a:latin typeface="Aptos" panose="020B0004020202020204" pitchFamily="34" charset="0"/>
              </a:rPr>
              <a:t> COVID-19 </a:t>
            </a:r>
            <a:r>
              <a:rPr lang="tr-TR" sz="2600" dirty="0" err="1">
                <a:latin typeface="Aptos" panose="020B0004020202020204" pitchFamily="34" charset="0"/>
              </a:rPr>
              <a:t>policy</a:t>
            </a:r>
            <a:r>
              <a:rPr lang="tr-TR" sz="2600" dirty="0">
                <a:latin typeface="Aptos" panose="020B0004020202020204" pitchFamily="34" charset="0"/>
              </a:rPr>
              <a:t> </a:t>
            </a:r>
            <a:r>
              <a:rPr lang="tr-TR" sz="2600" dirty="0" err="1">
                <a:latin typeface="Aptos" panose="020B0004020202020204" pitchFamily="34" charset="0"/>
              </a:rPr>
              <a:t>responses</a:t>
            </a:r>
            <a:r>
              <a:rPr lang="tr-TR" sz="2600" dirty="0">
                <a:latin typeface="Aptos" panose="020B0004020202020204" pitchFamily="34" charset="0"/>
              </a:rPr>
              <a:t> but </a:t>
            </a:r>
            <a:r>
              <a:rPr lang="tr-TR" sz="2600" dirty="0" err="1">
                <a:latin typeface="Aptos" panose="020B0004020202020204" pitchFamily="34" charset="0"/>
              </a:rPr>
              <a:t>generally</a:t>
            </a:r>
            <a:r>
              <a:rPr lang="tr-TR" sz="2600" dirty="0">
                <a:latin typeface="Aptos" panose="020B0004020202020204" pitchFamily="34" charset="0"/>
              </a:rPr>
              <a:t> </a:t>
            </a:r>
            <a:r>
              <a:rPr lang="tr-TR" sz="2600" dirty="0" err="1">
                <a:latin typeface="Aptos" panose="020B0004020202020204" pitchFamily="34" charset="0"/>
              </a:rPr>
              <a:t>returns</a:t>
            </a:r>
            <a:r>
              <a:rPr lang="tr-TR" sz="2600" dirty="0">
                <a:latin typeface="Aptos" panose="020B0004020202020204" pitchFamily="34" charset="0"/>
              </a:rPr>
              <a:t> </a:t>
            </a:r>
            <a:r>
              <a:rPr lang="tr-TR" sz="2600" dirty="0" err="1">
                <a:latin typeface="Aptos" panose="020B0004020202020204" pitchFamily="34" charset="0"/>
              </a:rPr>
              <a:t>to</a:t>
            </a:r>
            <a:r>
              <a:rPr lang="tr-TR" sz="2600" dirty="0">
                <a:latin typeface="Aptos" panose="020B0004020202020204" pitchFamily="34" charset="0"/>
              </a:rPr>
              <a:t> a </a:t>
            </a:r>
            <a:r>
              <a:rPr lang="tr-TR" sz="2600" dirty="0" err="1">
                <a:latin typeface="Aptos" panose="020B0004020202020204" pitchFamily="34" charset="0"/>
              </a:rPr>
              <a:t>stable</a:t>
            </a:r>
            <a:r>
              <a:rPr lang="tr-TR" sz="2600" dirty="0">
                <a:latin typeface="Aptos" panose="020B0004020202020204" pitchFamily="34" charset="0"/>
              </a:rPr>
              <a:t> trend </a:t>
            </a:r>
            <a:r>
              <a:rPr lang="tr-TR" sz="2600" dirty="0" err="1">
                <a:latin typeface="Aptos" panose="020B0004020202020204" pitchFamily="34" charset="0"/>
              </a:rPr>
              <a:t>afterward</a:t>
            </a:r>
            <a:r>
              <a:rPr lang="tr-TR" sz="2600" dirty="0">
                <a:latin typeface="Aptos" panose="020B0004020202020204" pitchFamily="34" charset="0"/>
              </a:rPr>
              <a:t>.</a:t>
            </a:r>
          </a:p>
          <a:p>
            <a:pPr marL="0" indent="0">
              <a:buNone/>
            </a:pPr>
            <a:r>
              <a:rPr lang="tr-TR" sz="2600" dirty="0" err="1">
                <a:latin typeface="Aptos" panose="020B0004020202020204" pitchFamily="34" charset="0"/>
              </a:rPr>
              <a:t>Overall</a:t>
            </a:r>
            <a:r>
              <a:rPr lang="tr-TR" sz="2600" dirty="0">
                <a:latin typeface="Aptos" panose="020B0004020202020204" pitchFamily="34" charset="0"/>
              </a:rPr>
              <a:t> </a:t>
            </a:r>
            <a:r>
              <a:rPr lang="tr-TR" sz="2600" dirty="0" err="1">
                <a:latin typeface="Aptos" panose="020B0004020202020204" pitchFamily="34" charset="0"/>
              </a:rPr>
              <a:t>conclusion</a:t>
            </a:r>
            <a:r>
              <a:rPr lang="tr-TR" sz="2600" dirty="0">
                <a:latin typeface="Aptos" panose="020B0004020202020204" pitchFamily="34" charset="0"/>
              </a:rPr>
              <a:t>: </a:t>
            </a:r>
            <a:r>
              <a:rPr lang="tr-TR" sz="2600" dirty="0" err="1">
                <a:latin typeface="Aptos" panose="020B0004020202020204" pitchFamily="34" charset="0"/>
              </a:rPr>
              <a:t>Countries</a:t>
            </a:r>
            <a:r>
              <a:rPr lang="tr-TR" sz="2600" dirty="0">
                <a:latin typeface="Aptos" panose="020B0004020202020204" pitchFamily="34" charset="0"/>
              </a:rPr>
              <a:t> </a:t>
            </a:r>
            <a:r>
              <a:rPr lang="tr-TR" sz="2600" dirty="0" err="1">
                <a:latin typeface="Aptos" panose="020B0004020202020204" pitchFamily="34" charset="0"/>
              </a:rPr>
              <a:t>differ</a:t>
            </a:r>
            <a:r>
              <a:rPr lang="tr-TR" sz="2600" dirty="0">
                <a:latin typeface="Aptos" panose="020B0004020202020204" pitchFamily="34" charset="0"/>
              </a:rPr>
              <a:t> </a:t>
            </a:r>
            <a:r>
              <a:rPr lang="tr-TR" sz="2600" dirty="0" err="1">
                <a:latin typeface="Aptos" panose="020B0004020202020204" pitchFamily="34" charset="0"/>
              </a:rPr>
              <a:t>strongly</a:t>
            </a:r>
            <a:r>
              <a:rPr lang="tr-TR" sz="2600" dirty="0">
                <a:latin typeface="Aptos" panose="020B0004020202020204" pitchFamily="34" charset="0"/>
              </a:rPr>
              <a:t> in </a:t>
            </a:r>
            <a:r>
              <a:rPr lang="tr-TR" sz="2600" dirty="0" err="1">
                <a:latin typeface="Aptos" panose="020B0004020202020204" pitchFamily="34" charset="0"/>
              </a:rPr>
              <a:t>monetary</a:t>
            </a:r>
            <a:r>
              <a:rPr lang="tr-TR" sz="2600" dirty="0">
                <a:latin typeface="Aptos" panose="020B0004020202020204" pitchFamily="34" charset="0"/>
              </a:rPr>
              <a:t> </a:t>
            </a:r>
            <a:r>
              <a:rPr lang="tr-TR" sz="2600" dirty="0" err="1">
                <a:latin typeface="Aptos" panose="020B0004020202020204" pitchFamily="34" charset="0"/>
              </a:rPr>
              <a:t>discipline</a:t>
            </a:r>
            <a:r>
              <a:rPr lang="tr-TR" sz="2600" dirty="0">
                <a:latin typeface="Aptos" panose="020B0004020202020204" pitchFamily="34" charset="0"/>
              </a:rPr>
              <a:t> </a:t>
            </a:r>
            <a:r>
              <a:rPr lang="tr-TR" sz="2600" dirty="0" err="1">
                <a:latin typeface="Aptos" panose="020B0004020202020204" pitchFamily="34" charset="0"/>
              </a:rPr>
              <a:t>and</a:t>
            </a:r>
            <a:r>
              <a:rPr lang="tr-TR" sz="2600" dirty="0">
                <a:latin typeface="Aptos" panose="020B0004020202020204" pitchFamily="34" charset="0"/>
              </a:rPr>
              <a:t> </a:t>
            </a:r>
            <a:r>
              <a:rPr lang="tr-TR" sz="2600" dirty="0" err="1">
                <a:latin typeface="Aptos" panose="020B0004020202020204" pitchFamily="34" charset="0"/>
              </a:rPr>
              <a:t>macroeconomic</a:t>
            </a:r>
            <a:r>
              <a:rPr lang="tr-TR" sz="2600" dirty="0">
                <a:latin typeface="Aptos" panose="020B0004020202020204" pitchFamily="34" charset="0"/>
              </a:rPr>
              <a:t> </a:t>
            </a:r>
            <a:r>
              <a:rPr lang="tr-TR" sz="2600" dirty="0" err="1">
                <a:latin typeface="Aptos" panose="020B0004020202020204" pitchFamily="34" charset="0"/>
              </a:rPr>
              <a:t>stability</a:t>
            </a:r>
            <a:r>
              <a:rPr lang="tr-TR" sz="2600" dirty="0">
                <a:latin typeface="Aptos" panose="020B0004020202020204" pitchFamily="34" charset="0"/>
              </a:rPr>
              <a:t> </a:t>
            </a:r>
            <a:r>
              <a:rPr lang="tr-TR" sz="2600" dirty="0" err="1">
                <a:latin typeface="Aptos" panose="020B0004020202020204" pitchFamily="34" charset="0"/>
              </a:rPr>
              <a:t>and</a:t>
            </a:r>
            <a:r>
              <a:rPr lang="tr-TR" sz="2600" dirty="0">
                <a:latin typeface="Aptos" panose="020B0004020202020204" pitchFamily="34" charset="0"/>
              </a:rPr>
              <a:t> </a:t>
            </a:r>
            <a:r>
              <a:rPr lang="tr-TR" sz="2600" dirty="0" err="1">
                <a:latin typeface="Aptos" panose="020B0004020202020204" pitchFamily="34" charset="0"/>
              </a:rPr>
              <a:t>these</a:t>
            </a:r>
            <a:r>
              <a:rPr lang="tr-TR" sz="2600" dirty="0">
                <a:latin typeface="Aptos" panose="020B0004020202020204" pitchFamily="34" charset="0"/>
              </a:rPr>
              <a:t> </a:t>
            </a:r>
            <a:r>
              <a:rPr lang="tr-TR" sz="2600" dirty="0" err="1">
                <a:latin typeface="Aptos" panose="020B0004020202020204" pitchFamily="34" charset="0"/>
              </a:rPr>
              <a:t>graphs</a:t>
            </a:r>
            <a:r>
              <a:rPr lang="tr-TR" sz="2600" dirty="0">
                <a:latin typeface="Aptos" panose="020B0004020202020204" pitchFamily="34" charset="0"/>
              </a:rPr>
              <a:t> </a:t>
            </a:r>
            <a:r>
              <a:rPr lang="tr-TR" sz="2600" dirty="0" err="1">
                <a:latin typeface="Aptos" panose="020B0004020202020204" pitchFamily="34" charset="0"/>
              </a:rPr>
              <a:t>visually</a:t>
            </a:r>
            <a:r>
              <a:rPr lang="tr-TR" sz="2600" dirty="0">
                <a:latin typeface="Aptos" panose="020B0004020202020204" pitchFamily="34" charset="0"/>
              </a:rPr>
              <a:t> </a:t>
            </a:r>
            <a:r>
              <a:rPr lang="tr-TR" sz="2600" dirty="0" err="1">
                <a:latin typeface="Aptos" panose="020B0004020202020204" pitchFamily="34" charset="0"/>
              </a:rPr>
              <a:t>confirm</a:t>
            </a:r>
            <a:r>
              <a:rPr lang="tr-TR" sz="2600" dirty="0">
                <a:latin typeface="Aptos" panose="020B0004020202020204" pitchFamily="34" charset="0"/>
              </a:rPr>
              <a:t> </a:t>
            </a:r>
            <a:r>
              <a:rPr lang="tr-TR" sz="2600" dirty="0" err="1">
                <a:latin typeface="Aptos" panose="020B0004020202020204" pitchFamily="34" charset="0"/>
              </a:rPr>
              <a:t>why</a:t>
            </a:r>
            <a:r>
              <a:rPr lang="tr-TR" sz="2600" dirty="0">
                <a:latin typeface="Aptos" panose="020B0004020202020204" pitchFamily="34" charset="0"/>
              </a:rPr>
              <a:t> </a:t>
            </a:r>
            <a:r>
              <a:rPr lang="tr-TR" sz="2600" dirty="0" err="1">
                <a:latin typeface="Aptos" panose="020B0004020202020204" pitchFamily="34" charset="0"/>
              </a:rPr>
              <a:t>Turkey’s</a:t>
            </a:r>
            <a:r>
              <a:rPr lang="tr-TR" sz="2600" dirty="0">
                <a:latin typeface="Aptos" panose="020B0004020202020204" pitchFamily="34" charset="0"/>
              </a:rPr>
              <a:t> </a:t>
            </a:r>
            <a:r>
              <a:rPr lang="tr-TR" sz="2600" dirty="0" err="1">
                <a:latin typeface="Aptos" panose="020B0004020202020204" pitchFamily="34" charset="0"/>
              </a:rPr>
              <a:t>fixed</a:t>
            </a:r>
            <a:r>
              <a:rPr lang="tr-TR" sz="2600" dirty="0">
                <a:latin typeface="Aptos" panose="020B0004020202020204" pitchFamily="34" charset="0"/>
              </a:rPr>
              <a:t> </a:t>
            </a:r>
            <a:r>
              <a:rPr lang="tr-TR" sz="2600" dirty="0" err="1">
                <a:latin typeface="Aptos" panose="020B0004020202020204" pitchFamily="34" charset="0"/>
              </a:rPr>
              <a:t>effect</a:t>
            </a:r>
            <a:r>
              <a:rPr lang="tr-TR" sz="2600" dirty="0">
                <a:latin typeface="Aptos" panose="020B0004020202020204" pitchFamily="34" charset="0"/>
              </a:rPr>
              <a:t> in </a:t>
            </a:r>
            <a:r>
              <a:rPr lang="tr-TR" sz="2600" dirty="0" err="1">
                <a:latin typeface="Aptos" panose="020B0004020202020204" pitchFamily="34" charset="0"/>
              </a:rPr>
              <a:t>the</a:t>
            </a:r>
            <a:r>
              <a:rPr lang="tr-TR" sz="2600" dirty="0">
                <a:latin typeface="Aptos" panose="020B0004020202020204" pitchFamily="34" charset="0"/>
              </a:rPr>
              <a:t> </a:t>
            </a:r>
            <a:r>
              <a:rPr lang="tr-TR" sz="2600" dirty="0" err="1">
                <a:latin typeface="Aptos" panose="020B0004020202020204" pitchFamily="34" charset="0"/>
              </a:rPr>
              <a:t>regression</a:t>
            </a:r>
            <a:r>
              <a:rPr lang="tr-TR" sz="2600" dirty="0">
                <a:latin typeface="Aptos" panose="020B0004020202020204" pitchFamily="34" charset="0"/>
              </a:rPr>
              <a:t> is </a:t>
            </a:r>
            <a:r>
              <a:rPr lang="tr-TR" sz="2600" dirty="0" err="1">
                <a:latin typeface="Aptos" panose="020B0004020202020204" pitchFamily="34" charset="0"/>
              </a:rPr>
              <a:t>significantly</a:t>
            </a:r>
            <a:r>
              <a:rPr lang="tr-TR" sz="2600" dirty="0">
                <a:latin typeface="Aptos" panose="020B0004020202020204" pitchFamily="34" charset="0"/>
              </a:rPr>
              <a:t> </a:t>
            </a:r>
            <a:r>
              <a:rPr lang="tr-TR" sz="2600" dirty="0" err="1">
                <a:latin typeface="Aptos" panose="020B0004020202020204" pitchFamily="34" charset="0"/>
              </a:rPr>
              <a:t>higher</a:t>
            </a:r>
            <a:r>
              <a:rPr lang="tr-TR" sz="2600" dirty="0">
                <a:latin typeface="Aptos" panose="020B0004020202020204" pitchFamily="34" charset="0"/>
              </a:rPr>
              <a:t>.</a:t>
            </a:r>
          </a:p>
          <a:p>
            <a:pPr marL="0" indent="0">
              <a:buNone/>
            </a:pPr>
            <a:endParaRPr lang="en-US" dirty="0"/>
          </a:p>
        </p:txBody>
      </p:sp>
      <p:pic>
        <p:nvPicPr>
          <p:cNvPr id="4" name="İçerik Yer Tutucusu 3">
            <a:extLst>
              <a:ext uri="{FF2B5EF4-FFF2-40B4-BE49-F238E27FC236}">
                <a16:creationId xmlns:a16="http://schemas.microsoft.com/office/drawing/2014/main" id="{FFEE3ACA-C3B8-69E5-5679-B2B94652418A}"/>
              </a:ext>
            </a:extLst>
          </p:cNvPr>
          <p:cNvPicPr>
            <a:picLocks noChangeAspect="1"/>
          </p:cNvPicPr>
          <p:nvPr/>
        </p:nvPicPr>
        <p:blipFill>
          <a:blip r:embed="rId2"/>
          <a:stretch>
            <a:fillRect/>
          </a:stretch>
        </p:blipFill>
        <p:spPr>
          <a:xfrm>
            <a:off x="6377939" y="1266092"/>
            <a:ext cx="5649938" cy="5034124"/>
          </a:xfrm>
          <a:prstGeom prst="rect">
            <a:avLst/>
          </a:prstGeom>
        </p:spPr>
      </p:pic>
    </p:spTree>
    <p:extLst>
      <p:ext uri="{BB962C8B-B14F-4D97-AF65-F5344CB8AC3E}">
        <p14:creationId xmlns:p14="http://schemas.microsoft.com/office/powerpoint/2010/main" val="2852356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78A96D2F-B0AF-23E1-EDB8-B3C64FA50E35}"/>
              </a:ext>
            </a:extLst>
          </p:cNvPr>
          <p:cNvSpPr>
            <a:spLocks noGrp="1"/>
          </p:cNvSpPr>
          <p:nvPr>
            <p:ph type="title"/>
          </p:nvPr>
        </p:nvSpPr>
        <p:spPr>
          <a:xfrm>
            <a:off x="5793149" y="1371600"/>
            <a:ext cx="5737859" cy="1097280"/>
          </a:xfrm>
        </p:spPr>
        <p:txBody>
          <a:bodyPr>
            <a:normAutofit/>
          </a:bodyPr>
          <a:lstStyle/>
          <a:p>
            <a:r>
              <a:rPr lang="en-GB" noProof="0" dirty="0"/>
              <a:t>INTERPRETATION</a:t>
            </a:r>
          </a:p>
        </p:txBody>
      </p:sp>
      <p:pic>
        <p:nvPicPr>
          <p:cNvPr id="4" name="İçerik Yer Tutucusu 3">
            <a:extLst>
              <a:ext uri="{FF2B5EF4-FFF2-40B4-BE49-F238E27FC236}">
                <a16:creationId xmlns:a16="http://schemas.microsoft.com/office/drawing/2014/main" id="{34EA7172-6A1B-0CBD-2754-35B6CCB81CC8}"/>
              </a:ext>
            </a:extLst>
          </p:cNvPr>
          <p:cNvPicPr>
            <a:picLocks noChangeAspect="1"/>
          </p:cNvPicPr>
          <p:nvPr/>
        </p:nvPicPr>
        <p:blipFill>
          <a:blip r:embed="rId2"/>
          <a:stretch>
            <a:fillRect/>
          </a:stretch>
        </p:blipFill>
        <p:spPr>
          <a:xfrm>
            <a:off x="0" y="0"/>
            <a:ext cx="5737859" cy="6858000"/>
          </a:xfrm>
          <a:prstGeom prst="rect">
            <a:avLst/>
          </a:prstGeom>
        </p:spPr>
      </p:pic>
      <p:cxnSp>
        <p:nvCxnSpPr>
          <p:cNvPr id="13" name="Straight Connector 12">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320DF676-3EF1-87FB-B1FC-E63813F9589A}"/>
              </a:ext>
            </a:extLst>
          </p:cNvPr>
          <p:cNvSpPr>
            <a:spLocks noGrp="1"/>
          </p:cNvSpPr>
          <p:nvPr>
            <p:ph idx="1"/>
          </p:nvPr>
        </p:nvSpPr>
        <p:spPr>
          <a:xfrm>
            <a:off x="5793149" y="2633236"/>
            <a:ext cx="5737860" cy="3666980"/>
          </a:xfrm>
        </p:spPr>
        <p:txBody>
          <a:bodyPr>
            <a:normAutofit fontScale="92500" lnSpcReduction="10000"/>
          </a:bodyPr>
          <a:lstStyle/>
          <a:p>
            <a:r>
              <a:rPr lang="en-GB" sz="1200" noProof="0" dirty="0">
                <a:latin typeface="Aptos" panose="020B0004020202020204" pitchFamily="34" charset="0"/>
              </a:rPr>
              <a:t>M2 growth exhibits mild persistence with a lag coefficient of 0.14 marginally significant at the 10% level.</a:t>
            </a:r>
          </a:p>
          <a:p>
            <a:r>
              <a:rPr lang="en-GB" sz="1200" noProof="0" dirty="0">
                <a:latin typeface="Aptos" panose="020B0004020202020204" pitchFamily="34" charset="0"/>
              </a:rPr>
              <a:t>Country fixed effects show substantial cross-country differences: Turkey has significantly higher average M2 growth (+6.1) while the U.S. shows a smaller and marginally significant difference.</a:t>
            </a:r>
          </a:p>
          <a:p>
            <a:r>
              <a:rPr lang="en-GB" sz="1200" noProof="0" dirty="0">
                <a:latin typeface="Aptos" panose="020B0004020202020204" pitchFamily="34" charset="0"/>
              </a:rPr>
              <a:t>The model reveals mild persistence in money growth, substantial cross-country heterogeneity, and limited overall explanatory power. These results suggest that short-term dynamics are weak, and structural country differences dominate the </a:t>
            </a:r>
            <a:r>
              <a:rPr lang="en-GB" sz="1200" noProof="0" dirty="0" err="1">
                <a:latin typeface="Aptos" panose="020B0004020202020204" pitchFamily="34" charset="0"/>
              </a:rPr>
              <a:t>behavior</a:t>
            </a:r>
            <a:r>
              <a:rPr lang="en-GB" sz="1200" noProof="0" dirty="0">
                <a:latin typeface="Aptos" panose="020B0004020202020204" pitchFamily="34" charset="0"/>
              </a:rPr>
              <a:t> of M2 growth.</a:t>
            </a:r>
          </a:p>
          <a:p>
            <a:r>
              <a:rPr lang="en-GB" sz="1200" noProof="0" dirty="0">
                <a:latin typeface="Aptos" panose="020B0004020202020204" pitchFamily="34" charset="0"/>
              </a:rPr>
              <a:t>The results show that M2 growth is only mildly persistent — past money growth affects the next quarter, but not strongly. The country effects are much more important: Turkey has the highest baseline M2 growth, reflecting its high-inflation and credit-driven environment; the U.S. shows moderate growth consistent with a stable monetary regime; and Italy (Euro Area) has the lowest growth due to tighter ECB control. Overall, institutional differences across countries explain more of the variation in M2 growth than its own past values.</a:t>
            </a:r>
          </a:p>
          <a:p>
            <a:endParaRPr lang="en-GB" sz="1200" noProof="0" dirty="0">
              <a:latin typeface="Aptos" panose="020B0004020202020204" pitchFamily="34" charset="0"/>
            </a:endParaRPr>
          </a:p>
          <a:p>
            <a:endParaRPr lang="en-GB" noProof="0" dirty="0">
              <a:latin typeface="Aptos" panose="020B0004020202020204" pitchFamily="34" charset="0"/>
            </a:endParaRPr>
          </a:p>
          <a:p>
            <a:endParaRPr lang="en-GB" noProof="0" dirty="0"/>
          </a:p>
        </p:txBody>
      </p:sp>
    </p:spTree>
    <p:extLst>
      <p:ext uri="{BB962C8B-B14F-4D97-AF65-F5344CB8AC3E}">
        <p14:creationId xmlns:p14="http://schemas.microsoft.com/office/powerpoint/2010/main" val="1858347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25871EAE-53E0-BEB9-2188-ECDBF1769CED}"/>
              </a:ext>
            </a:extLst>
          </p:cNvPr>
          <p:cNvSpPr>
            <a:spLocks noGrp="1"/>
          </p:cNvSpPr>
          <p:nvPr>
            <p:ph type="title"/>
          </p:nvPr>
        </p:nvSpPr>
        <p:spPr>
          <a:xfrm>
            <a:off x="0" y="1876926"/>
            <a:ext cx="6472989" cy="2170488"/>
          </a:xfrm>
        </p:spPr>
        <p:txBody>
          <a:bodyPr vert="horz" lIns="91440" tIns="45720" rIns="91440" bIns="45720" rtlCol="0" anchor="t">
            <a:normAutofit fontScale="90000"/>
          </a:bodyPr>
          <a:lstStyle/>
          <a:p>
            <a:r>
              <a:rPr lang="en-GB" sz="2000" b="0" noProof="0" dirty="0">
                <a:latin typeface="Aptos" panose="020B0004020202020204" pitchFamily="34" charset="0"/>
              </a:rPr>
              <a:t>We estimated our baseline regression using heteroskedasticity-robust standard errors to ensure valid inference. The robust results remain consistent with the baseline model and confirm that lagged M2 growth has a positive persistence while country effects remain significant.</a:t>
            </a:r>
            <a:br>
              <a:rPr lang="en-GB" sz="2000" noProof="0" dirty="0"/>
            </a:br>
            <a:endParaRPr lang="en-GB" sz="2000" noProof="0" dirty="0"/>
          </a:p>
        </p:txBody>
      </p:sp>
      <p:pic>
        <p:nvPicPr>
          <p:cNvPr id="4" name="İçerik Yer Tutucusu 3">
            <a:extLst>
              <a:ext uri="{FF2B5EF4-FFF2-40B4-BE49-F238E27FC236}">
                <a16:creationId xmlns:a16="http://schemas.microsoft.com/office/drawing/2014/main" id="{731CFA8F-F142-8F8C-219A-AD741CCC6455}"/>
              </a:ext>
            </a:extLst>
          </p:cNvPr>
          <p:cNvPicPr>
            <a:picLocks noGrp="1" noChangeAspect="1"/>
          </p:cNvPicPr>
          <p:nvPr>
            <p:ph idx="1"/>
          </p:nvPr>
        </p:nvPicPr>
        <p:blipFill>
          <a:blip r:embed="rId2"/>
          <a:stretch>
            <a:fillRect/>
          </a:stretch>
        </p:blipFill>
        <p:spPr>
          <a:xfrm>
            <a:off x="6472989" y="0"/>
            <a:ext cx="5719011" cy="6858000"/>
          </a:xfrm>
          <a:prstGeom prst="rect">
            <a:avLst/>
          </a:prstGeom>
        </p:spPr>
      </p:pic>
      <p:cxnSp>
        <p:nvCxnSpPr>
          <p:cNvPr id="22" name="Straight Connector 21">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3660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6AEC78F1-3494-7A2B-8F1A-179E48BB6FD1}"/>
              </a:ext>
            </a:extLst>
          </p:cNvPr>
          <p:cNvSpPr>
            <a:spLocks noGrp="1"/>
          </p:cNvSpPr>
          <p:nvPr>
            <p:ph type="title"/>
          </p:nvPr>
        </p:nvSpPr>
        <p:spPr>
          <a:xfrm>
            <a:off x="5983065" y="1006933"/>
            <a:ext cx="5624992" cy="2643264"/>
          </a:xfrm>
        </p:spPr>
        <p:txBody>
          <a:bodyPr vert="horz" lIns="91440" tIns="45720" rIns="91440" bIns="45720" rtlCol="0" anchor="b">
            <a:normAutofit/>
          </a:bodyPr>
          <a:lstStyle/>
          <a:p>
            <a:r>
              <a:rPr lang="en-GB" sz="2000" b="0" noProof="0" dirty="0">
                <a:latin typeface="Aptos" panose="020B0004020202020204" pitchFamily="34" charset="0"/>
              </a:rPr>
              <a:t>Residual autocorrelation test:</a:t>
            </a:r>
            <a:br>
              <a:rPr lang="en-GB" sz="2000" b="0" noProof="0" dirty="0">
                <a:latin typeface="Aptos" panose="020B0004020202020204" pitchFamily="34" charset="0"/>
              </a:rPr>
            </a:br>
            <a:r>
              <a:rPr lang="en-GB" sz="2000" b="0" noProof="0" dirty="0">
                <a:latin typeface="Aptos" panose="020B0004020202020204" pitchFamily="34" charset="0"/>
              </a:rPr>
              <a:t>Regressing the residuals on their own lag shows no evidence of AR(1) serial correlation (lag coefficient ≈ –0.02, p = 0.78). Therefore, first-order autocorrelation is not a concern in our model.</a:t>
            </a:r>
            <a:br>
              <a:rPr lang="en-GB" sz="4400" b="0" noProof="0" dirty="0">
                <a:latin typeface="Aptos" panose="020B0004020202020204" pitchFamily="34" charset="0"/>
              </a:rPr>
            </a:br>
            <a:endParaRPr lang="en-GB" sz="4400" b="0" noProof="0" dirty="0">
              <a:latin typeface="Aptos" panose="020B0004020202020204" pitchFamily="34" charset="0"/>
            </a:endParaRPr>
          </a:p>
        </p:txBody>
      </p:sp>
      <p:pic>
        <p:nvPicPr>
          <p:cNvPr id="4" name="İçerik Yer Tutucusu 3">
            <a:extLst>
              <a:ext uri="{FF2B5EF4-FFF2-40B4-BE49-F238E27FC236}">
                <a16:creationId xmlns:a16="http://schemas.microsoft.com/office/drawing/2014/main" id="{F9590291-9F29-634F-5169-F4DF5164CD24}"/>
              </a:ext>
            </a:extLst>
          </p:cNvPr>
          <p:cNvPicPr>
            <a:picLocks noGrp="1" noChangeAspect="1"/>
          </p:cNvPicPr>
          <p:nvPr>
            <p:ph idx="1"/>
          </p:nvPr>
        </p:nvPicPr>
        <p:blipFill>
          <a:blip r:embed="rId2"/>
          <a:stretch>
            <a:fillRect/>
          </a:stretch>
        </p:blipFill>
        <p:spPr>
          <a:xfrm>
            <a:off x="0" y="0"/>
            <a:ext cx="5269832" cy="6857997"/>
          </a:xfrm>
          <a:prstGeom prst="rect">
            <a:avLst/>
          </a:prstGeom>
        </p:spPr>
      </p:pic>
      <p:cxnSp>
        <p:nvCxnSpPr>
          <p:cNvPr id="13" name="Straight Connector 12">
            <a:extLst>
              <a:ext uri="{FF2B5EF4-FFF2-40B4-BE49-F238E27FC236}">
                <a16:creationId xmlns:a16="http://schemas.microsoft.com/office/drawing/2014/main" id="{87534CB3-4CA5-DDD2-D519-C4A714A689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16943" y="3999192"/>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613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0DBC6011-BABB-21CA-6816-B5BD98BE934A}"/>
              </a:ext>
            </a:extLst>
          </p:cNvPr>
          <p:cNvSpPr>
            <a:spLocks noGrp="1"/>
          </p:cNvSpPr>
          <p:nvPr>
            <p:ph type="title"/>
          </p:nvPr>
        </p:nvSpPr>
        <p:spPr>
          <a:xfrm>
            <a:off x="7098452" y="2237872"/>
            <a:ext cx="5093547" cy="2887580"/>
          </a:xfrm>
        </p:spPr>
        <p:txBody>
          <a:bodyPr vert="horz" lIns="91440" tIns="45720" rIns="91440" bIns="45720" rtlCol="0" anchor="t">
            <a:normAutofit fontScale="90000"/>
          </a:bodyPr>
          <a:lstStyle/>
          <a:p>
            <a:r>
              <a:rPr lang="en-GB" sz="3100" b="0" noProof="0" dirty="0">
                <a:latin typeface="Aptos" panose="020B0004020202020204" pitchFamily="34" charset="0"/>
              </a:rPr>
              <a:t>All VIF values are equal to 1, indicating that the explanatory variables are not correlated. There is no evidence of multicollinearity in the model.</a:t>
            </a:r>
            <a:br>
              <a:rPr lang="en-GB" noProof="0" dirty="0"/>
            </a:br>
            <a:endParaRPr lang="en-GB" sz="4400" noProof="0" dirty="0"/>
          </a:p>
        </p:txBody>
      </p:sp>
      <p:pic>
        <p:nvPicPr>
          <p:cNvPr id="4" name="İçerik Yer Tutucusu 3">
            <a:extLst>
              <a:ext uri="{FF2B5EF4-FFF2-40B4-BE49-F238E27FC236}">
                <a16:creationId xmlns:a16="http://schemas.microsoft.com/office/drawing/2014/main" id="{CB6ED0CD-4526-25D0-E592-3AA8E6A1EBE5}"/>
              </a:ext>
            </a:extLst>
          </p:cNvPr>
          <p:cNvPicPr>
            <a:picLocks noGrp="1" noChangeAspect="1"/>
          </p:cNvPicPr>
          <p:nvPr>
            <p:ph idx="1"/>
          </p:nvPr>
        </p:nvPicPr>
        <p:blipFill>
          <a:blip r:embed="rId2"/>
          <a:stretch>
            <a:fillRect/>
          </a:stretch>
        </p:blipFill>
        <p:spPr>
          <a:xfrm>
            <a:off x="0" y="2237874"/>
            <a:ext cx="7098453" cy="2887580"/>
          </a:xfrm>
          <a:prstGeom prst="rect">
            <a:avLst/>
          </a:prstGeom>
        </p:spPr>
      </p:pic>
      <p:cxnSp>
        <p:nvCxnSpPr>
          <p:cNvPr id="13" name="Straight Connector 12">
            <a:extLst>
              <a:ext uri="{FF2B5EF4-FFF2-40B4-BE49-F238E27FC236}">
                <a16:creationId xmlns:a16="http://schemas.microsoft.com/office/drawing/2014/main" id="{8CED01B4-40F2-4CAE-8062-1D4CE8454C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8116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754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E1D210E8-56DB-BD2E-C9A5-F523AF41F972}"/>
              </a:ext>
            </a:extLst>
          </p:cNvPr>
          <p:cNvSpPr>
            <a:spLocks noGrp="1"/>
          </p:cNvSpPr>
          <p:nvPr>
            <p:ph type="title"/>
          </p:nvPr>
        </p:nvSpPr>
        <p:spPr>
          <a:xfrm>
            <a:off x="640080" y="914401"/>
            <a:ext cx="4876801" cy="1569516"/>
          </a:xfrm>
        </p:spPr>
        <p:txBody>
          <a:bodyPr anchor="t">
            <a:normAutofit/>
          </a:bodyPr>
          <a:lstStyle/>
          <a:p>
            <a:endParaRPr lang="en-GB" noProof="0" dirty="0"/>
          </a:p>
        </p:txBody>
      </p:sp>
      <p:pic>
        <p:nvPicPr>
          <p:cNvPr id="4" name="İçerik Yer Tutucusu 3">
            <a:extLst>
              <a:ext uri="{FF2B5EF4-FFF2-40B4-BE49-F238E27FC236}">
                <a16:creationId xmlns:a16="http://schemas.microsoft.com/office/drawing/2014/main" id="{ADA945CE-86E0-7849-ABCB-4512FC19B39F}"/>
              </a:ext>
            </a:extLst>
          </p:cNvPr>
          <p:cNvPicPr>
            <a:picLocks noChangeAspect="1"/>
          </p:cNvPicPr>
          <p:nvPr/>
        </p:nvPicPr>
        <p:blipFill>
          <a:blip r:embed="rId2"/>
          <a:stretch>
            <a:fillRect/>
          </a:stretch>
        </p:blipFill>
        <p:spPr>
          <a:xfrm>
            <a:off x="640079" y="0"/>
            <a:ext cx="5760719" cy="6272782"/>
          </a:xfrm>
          <a:prstGeom prst="rect">
            <a:avLst/>
          </a:prstGeom>
        </p:spPr>
      </p:pic>
      <p:sp>
        <p:nvSpPr>
          <p:cNvPr id="8" name="Content Placeholder 7">
            <a:extLst>
              <a:ext uri="{FF2B5EF4-FFF2-40B4-BE49-F238E27FC236}">
                <a16:creationId xmlns:a16="http://schemas.microsoft.com/office/drawing/2014/main" id="{E386A906-644D-AB15-7C2A-B9929B6B4692}"/>
              </a:ext>
            </a:extLst>
          </p:cNvPr>
          <p:cNvSpPr>
            <a:spLocks noGrp="1"/>
          </p:cNvSpPr>
          <p:nvPr>
            <p:ph idx="1"/>
          </p:nvPr>
        </p:nvSpPr>
        <p:spPr>
          <a:xfrm>
            <a:off x="6400799" y="960119"/>
            <a:ext cx="5130210" cy="5022661"/>
          </a:xfrm>
        </p:spPr>
        <p:txBody>
          <a:bodyPr>
            <a:normAutofit/>
          </a:bodyPr>
          <a:lstStyle/>
          <a:p>
            <a:pPr marL="0" indent="0">
              <a:buNone/>
            </a:pPr>
            <a:r>
              <a:rPr lang="en-GB" noProof="0" dirty="0">
                <a:latin typeface="Aptos" panose="020B0004020202020204" pitchFamily="34" charset="0"/>
              </a:rPr>
              <a:t>Robustness check confirms stability of our findings. </a:t>
            </a:r>
          </a:p>
          <a:p>
            <a:r>
              <a:rPr lang="en-GB" noProof="0" dirty="0">
                <a:latin typeface="Aptos" panose="020B0004020202020204" pitchFamily="34" charset="0"/>
              </a:rPr>
              <a:t>When we replace M2 growth with the log-difference of M2 (ΔlnM2) the coefficients remain very similar: monetary growth is persistent and Turkey shows significantly higher monetary expansion than the US and Italy. This indicates that our results are not sensitive to the definition of money growth.</a:t>
            </a:r>
          </a:p>
          <a:p>
            <a:endParaRPr lang="en-GB" noProof="0" dirty="0"/>
          </a:p>
        </p:txBody>
      </p:sp>
      <p:cxnSp>
        <p:nvCxnSpPr>
          <p:cNvPr id="13" name="Straight Connector 12">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402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1DC1C5E6-34CB-D82B-D9A9-84D834AAD76B}"/>
              </a:ext>
            </a:extLst>
          </p:cNvPr>
          <p:cNvSpPr>
            <a:spLocks noGrp="1"/>
          </p:cNvSpPr>
          <p:nvPr>
            <p:ph type="title"/>
          </p:nvPr>
        </p:nvSpPr>
        <p:spPr>
          <a:xfrm>
            <a:off x="640080" y="1371600"/>
            <a:ext cx="5737859" cy="1097280"/>
          </a:xfrm>
        </p:spPr>
        <p:txBody>
          <a:bodyPr>
            <a:normAutofit/>
          </a:bodyPr>
          <a:lstStyle/>
          <a:p>
            <a:endParaRPr lang="en-GB" noProof="0" dirty="0"/>
          </a:p>
        </p:txBody>
      </p:sp>
      <p:cxnSp>
        <p:nvCxnSpPr>
          <p:cNvPr id="13" name="Straight Connector 12">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İçerik Yer Tutucusu 3">
            <a:extLst>
              <a:ext uri="{FF2B5EF4-FFF2-40B4-BE49-F238E27FC236}">
                <a16:creationId xmlns:a16="http://schemas.microsoft.com/office/drawing/2014/main" id="{80383152-67DC-A73F-3AD2-C2F53E74E73D}"/>
              </a:ext>
            </a:extLst>
          </p:cNvPr>
          <p:cNvPicPr>
            <a:picLocks noChangeAspect="1"/>
          </p:cNvPicPr>
          <p:nvPr/>
        </p:nvPicPr>
        <p:blipFill>
          <a:blip r:embed="rId2"/>
          <a:stretch>
            <a:fillRect/>
          </a:stretch>
        </p:blipFill>
        <p:spPr>
          <a:xfrm>
            <a:off x="7483642" y="-1"/>
            <a:ext cx="4708358" cy="6857993"/>
          </a:xfrm>
          <a:prstGeom prst="rect">
            <a:avLst/>
          </a:prstGeom>
        </p:spPr>
      </p:pic>
      <p:sp>
        <p:nvSpPr>
          <p:cNvPr id="12" name="İçerik Yer Tutucusu 11">
            <a:extLst>
              <a:ext uri="{FF2B5EF4-FFF2-40B4-BE49-F238E27FC236}">
                <a16:creationId xmlns:a16="http://schemas.microsoft.com/office/drawing/2014/main" id="{C3834186-ADCD-453A-DDB9-4B2CC38C99BD}"/>
              </a:ext>
            </a:extLst>
          </p:cNvPr>
          <p:cNvSpPr>
            <a:spLocks noGrp="1"/>
          </p:cNvSpPr>
          <p:nvPr>
            <p:ph idx="1"/>
          </p:nvPr>
        </p:nvSpPr>
        <p:spPr>
          <a:xfrm>
            <a:off x="640080" y="2633472"/>
            <a:ext cx="6843562" cy="3566160"/>
          </a:xfrm>
        </p:spPr>
        <p:txBody>
          <a:bodyPr/>
          <a:lstStyle/>
          <a:p>
            <a:r>
              <a:rPr lang="en-GB" noProof="0" dirty="0">
                <a:latin typeface="Aptos" panose="020B0004020202020204" pitchFamily="34" charset="0"/>
              </a:rPr>
              <a:t>Since the Breusch Pagan test yields a p-value close to zero we reject the null hypothesis of constant variance. This indicates the presence of heteroskedasticity in the model; therefore, all subsequent estimations rely on heteroskedasticity robust standard errors to obtain valid inference.</a:t>
            </a:r>
          </a:p>
          <a:p>
            <a:endParaRPr lang="en-GB" noProof="0" dirty="0"/>
          </a:p>
        </p:txBody>
      </p:sp>
    </p:spTree>
    <p:extLst>
      <p:ext uri="{BB962C8B-B14F-4D97-AF65-F5344CB8AC3E}">
        <p14:creationId xmlns:p14="http://schemas.microsoft.com/office/powerpoint/2010/main" val="396565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Başlık 1">
            <a:extLst>
              <a:ext uri="{FF2B5EF4-FFF2-40B4-BE49-F238E27FC236}">
                <a16:creationId xmlns:a16="http://schemas.microsoft.com/office/drawing/2014/main" id="{B95B2C22-2908-7AF4-8E83-816741531328}"/>
              </a:ext>
            </a:extLst>
          </p:cNvPr>
          <p:cNvSpPr>
            <a:spLocks noGrp="1"/>
          </p:cNvSpPr>
          <p:nvPr>
            <p:ph type="title"/>
          </p:nvPr>
        </p:nvSpPr>
        <p:spPr>
          <a:xfrm>
            <a:off x="5793149" y="1371600"/>
            <a:ext cx="5737859" cy="1097280"/>
          </a:xfrm>
        </p:spPr>
        <p:txBody>
          <a:bodyPr>
            <a:normAutofit/>
          </a:bodyPr>
          <a:lstStyle/>
          <a:p>
            <a:endParaRPr lang="en-GB" noProof="0" dirty="0"/>
          </a:p>
        </p:txBody>
      </p:sp>
      <p:pic>
        <p:nvPicPr>
          <p:cNvPr id="4" name="İçerik Yer Tutucusu 3">
            <a:extLst>
              <a:ext uri="{FF2B5EF4-FFF2-40B4-BE49-F238E27FC236}">
                <a16:creationId xmlns:a16="http://schemas.microsoft.com/office/drawing/2014/main" id="{31E5E1B9-96BE-36EB-47CB-859E6DFF964F}"/>
              </a:ext>
            </a:extLst>
          </p:cNvPr>
          <p:cNvPicPr>
            <a:picLocks noChangeAspect="1"/>
          </p:cNvPicPr>
          <p:nvPr/>
        </p:nvPicPr>
        <p:blipFill>
          <a:blip r:embed="rId2"/>
          <a:stretch>
            <a:fillRect/>
          </a:stretch>
        </p:blipFill>
        <p:spPr>
          <a:xfrm>
            <a:off x="0" y="0"/>
            <a:ext cx="5737859" cy="6858000"/>
          </a:xfrm>
          <a:prstGeom prst="rect">
            <a:avLst/>
          </a:prstGeom>
        </p:spPr>
      </p:pic>
      <p:cxnSp>
        <p:nvCxnSpPr>
          <p:cNvPr id="13" name="Straight Connector 12">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8D463DE-E314-4D55-E656-A947B145C9D8}"/>
              </a:ext>
            </a:extLst>
          </p:cNvPr>
          <p:cNvSpPr>
            <a:spLocks noGrp="1"/>
          </p:cNvSpPr>
          <p:nvPr>
            <p:ph idx="1"/>
          </p:nvPr>
        </p:nvSpPr>
        <p:spPr>
          <a:xfrm>
            <a:off x="5793149" y="2633236"/>
            <a:ext cx="5737860" cy="3666980"/>
          </a:xfrm>
        </p:spPr>
        <p:txBody>
          <a:bodyPr>
            <a:normAutofit/>
          </a:bodyPr>
          <a:lstStyle/>
          <a:p>
            <a:r>
              <a:rPr lang="en-GB" noProof="0" dirty="0">
                <a:latin typeface="Aptos" panose="020B0004020202020204" pitchFamily="34" charset="0"/>
              </a:rPr>
              <a:t>To test for autocorrelation, we regressed the residuals on their first lag. The lagged residual coefficient is small and statistically insignificant (p = 0.77), indicating no evidence of first-order autocorrelation in the error term. This suggests that serial correlation is not a concern in our model.</a:t>
            </a:r>
          </a:p>
          <a:p>
            <a:endParaRPr lang="en-GB" noProof="0" dirty="0"/>
          </a:p>
        </p:txBody>
      </p:sp>
    </p:spTree>
    <p:extLst>
      <p:ext uri="{BB962C8B-B14F-4D97-AF65-F5344CB8AC3E}">
        <p14:creationId xmlns:p14="http://schemas.microsoft.com/office/powerpoint/2010/main" val="981764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9204CDA-9911-BE76-F84D-8716DA972D62}"/>
              </a:ext>
            </a:extLst>
          </p:cNvPr>
          <p:cNvSpPr>
            <a:spLocks noGrp="1"/>
          </p:cNvSpPr>
          <p:nvPr>
            <p:ph type="title"/>
          </p:nvPr>
        </p:nvSpPr>
        <p:spPr/>
        <p:txBody>
          <a:bodyPr>
            <a:normAutofit fontScale="90000"/>
          </a:bodyPr>
          <a:lstStyle/>
          <a:p>
            <a:r>
              <a:rPr lang="en-GB" noProof="0" dirty="0">
                <a:latin typeface="Aptos" panose="020B0004020202020204" pitchFamily="34" charset="0"/>
              </a:rPr>
              <a:t>Economic Interpretation</a:t>
            </a:r>
            <a:br>
              <a:rPr lang="en-GB" noProof="0" dirty="0"/>
            </a:br>
            <a:endParaRPr lang="en-GB" noProof="0" dirty="0"/>
          </a:p>
        </p:txBody>
      </p:sp>
      <p:sp>
        <p:nvSpPr>
          <p:cNvPr id="3" name="İçerik Yer Tutucusu 2">
            <a:extLst>
              <a:ext uri="{FF2B5EF4-FFF2-40B4-BE49-F238E27FC236}">
                <a16:creationId xmlns:a16="http://schemas.microsoft.com/office/drawing/2014/main" id="{D40D16AE-C047-71F6-93CC-9A39AC0E3021}"/>
              </a:ext>
            </a:extLst>
          </p:cNvPr>
          <p:cNvSpPr>
            <a:spLocks noGrp="1"/>
          </p:cNvSpPr>
          <p:nvPr>
            <p:ph idx="1"/>
          </p:nvPr>
        </p:nvSpPr>
        <p:spPr/>
        <p:txBody>
          <a:bodyPr/>
          <a:lstStyle/>
          <a:p>
            <a:r>
              <a:rPr lang="en-GB" i="1" noProof="0" dirty="0">
                <a:latin typeface="Aptos" panose="020B0004020202020204" pitchFamily="34" charset="0"/>
              </a:rPr>
              <a:t>The comparison between the level growth model and the log-difference specification indicates that the log model provides a better statistical fit.</a:t>
            </a:r>
            <a:r>
              <a:rPr lang="en-GB" noProof="0" dirty="0">
                <a:latin typeface="Aptos" panose="020B0004020202020204" pitchFamily="34" charset="0"/>
              </a:rPr>
              <a:t> </a:t>
            </a:r>
            <a:r>
              <a:rPr lang="en-GB" i="1" noProof="0" dirty="0">
                <a:latin typeface="Aptos" panose="020B0004020202020204" pitchFamily="34" charset="0"/>
              </a:rPr>
              <a:t>The R-squared increases from 0.186 to 0.196 and the coefficients remain stable across specifications.</a:t>
            </a:r>
            <a:r>
              <a:rPr lang="en-GB" noProof="0" dirty="0">
                <a:latin typeface="Aptos" panose="020B0004020202020204" pitchFamily="34" charset="0"/>
              </a:rPr>
              <a:t> </a:t>
            </a:r>
            <a:r>
              <a:rPr lang="en-GB" i="1" noProof="0" dirty="0">
                <a:latin typeface="Aptos" panose="020B0004020202020204" pitchFamily="34" charset="0"/>
              </a:rPr>
              <a:t>Moreover, economic interpretation becomes more meaningful in logs as coefficients measure proportional changes rather than absolute changes.</a:t>
            </a:r>
            <a:r>
              <a:rPr lang="en-GB" noProof="0" dirty="0">
                <a:latin typeface="Aptos" panose="020B0004020202020204" pitchFamily="34" charset="0"/>
              </a:rPr>
              <a:t> </a:t>
            </a:r>
            <a:r>
              <a:rPr lang="en-GB" i="1" noProof="0" dirty="0">
                <a:latin typeface="Aptos" panose="020B0004020202020204" pitchFamily="34" charset="0"/>
              </a:rPr>
              <a:t>Therefore, the log-difference model is selected as the preferred specification.</a:t>
            </a:r>
            <a:endParaRPr lang="en-GB" noProof="0" dirty="0">
              <a:latin typeface="Aptos" panose="020B0004020202020204" pitchFamily="34" charset="0"/>
            </a:endParaRPr>
          </a:p>
          <a:p>
            <a:endParaRPr lang="en-GB" noProof="0" dirty="0"/>
          </a:p>
        </p:txBody>
      </p:sp>
    </p:spTree>
    <p:extLst>
      <p:ext uri="{BB962C8B-B14F-4D97-AF65-F5344CB8AC3E}">
        <p14:creationId xmlns:p14="http://schemas.microsoft.com/office/powerpoint/2010/main" val="3591719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77934BD-76BB-E851-4A4A-3AFFB23266AC}"/>
              </a:ext>
            </a:extLst>
          </p:cNvPr>
          <p:cNvSpPr>
            <a:spLocks noGrp="1"/>
          </p:cNvSpPr>
          <p:nvPr>
            <p:ph type="title"/>
          </p:nvPr>
        </p:nvSpPr>
        <p:spPr/>
        <p:txBody>
          <a:bodyPr>
            <a:normAutofit fontScale="90000"/>
          </a:bodyPr>
          <a:lstStyle/>
          <a:p>
            <a:r>
              <a:rPr lang="en-GB" noProof="0" dirty="0"/>
              <a:t>Policy Interpretation</a:t>
            </a:r>
            <a:br>
              <a:rPr lang="en-GB" noProof="0" dirty="0"/>
            </a:br>
            <a:endParaRPr lang="en-GB" noProof="0" dirty="0"/>
          </a:p>
        </p:txBody>
      </p:sp>
      <p:sp>
        <p:nvSpPr>
          <p:cNvPr id="3" name="İçerik Yer Tutucusu 2">
            <a:extLst>
              <a:ext uri="{FF2B5EF4-FFF2-40B4-BE49-F238E27FC236}">
                <a16:creationId xmlns:a16="http://schemas.microsoft.com/office/drawing/2014/main" id="{60E94211-A579-D3F5-CE87-CFAC6E18F803}"/>
              </a:ext>
            </a:extLst>
          </p:cNvPr>
          <p:cNvSpPr>
            <a:spLocks noGrp="1"/>
          </p:cNvSpPr>
          <p:nvPr>
            <p:ph idx="1"/>
          </p:nvPr>
        </p:nvSpPr>
        <p:spPr/>
        <p:txBody>
          <a:bodyPr>
            <a:normAutofit lnSpcReduction="10000"/>
          </a:bodyPr>
          <a:lstStyle/>
          <a:p>
            <a:r>
              <a:rPr lang="en-GB" sz="1600" noProof="0" dirty="0">
                <a:latin typeface="Aptos" panose="020B0004020202020204" pitchFamily="34" charset="0"/>
              </a:rPr>
              <a:t>Money growth shows persistence (lag coefficient ≈ 0.15).This means that when money supply growth increases today a portion of that increase tends to continue into the next quarter. Policy implication: Central banks should respond early to monetary expansion because its effects do not disappear quickly.</a:t>
            </a:r>
          </a:p>
          <a:p>
            <a:r>
              <a:rPr lang="en-GB" sz="1600" noProof="0" dirty="0">
                <a:latin typeface="Aptos" panose="020B0004020202020204" pitchFamily="34" charset="0"/>
              </a:rPr>
              <a:t>Turkey’s fixed effect is significantly higher than Italy and the U.S. This indicates that after controlling for dynamics Turkey systematically exhibits higher average money growth. Policy implication: Turkey’s monetary environment is structurally more expansionary which may reflect inflationary pressures or attempts to stimulate the economy.</a:t>
            </a:r>
          </a:p>
          <a:p>
            <a:r>
              <a:rPr lang="en-GB" sz="1600" noProof="0" dirty="0">
                <a:latin typeface="Aptos" panose="020B0004020202020204" pitchFamily="34" charset="0"/>
              </a:rPr>
              <a:t>The U.S. fixed effect is positive but smaller. This suggests that U.S. money growth is stable and moderate consistent with a predictable monetary policy framework. Policy implication: U.S. monetary policy credibility helps anchor long-term growth expectations.</a:t>
            </a:r>
          </a:p>
          <a:p>
            <a:pPr marL="0" indent="0">
              <a:buNone/>
            </a:pPr>
            <a:r>
              <a:rPr lang="en-GB" sz="1600" noProof="0" dirty="0">
                <a:latin typeface="Aptos" panose="020B0004020202020204" pitchFamily="34" charset="0"/>
              </a:rPr>
              <a:t>Persistent money growth and large cross-country differences imply that monetary policy discipline, credibility and institutional strength play a key role in stabilizing inflation and supporting macroeconomic performance.</a:t>
            </a:r>
          </a:p>
          <a:p>
            <a:pPr marL="0" indent="0">
              <a:buNone/>
            </a:pPr>
            <a:endParaRPr lang="en-GB" noProof="0" dirty="0"/>
          </a:p>
        </p:txBody>
      </p:sp>
    </p:spTree>
    <p:extLst>
      <p:ext uri="{BB962C8B-B14F-4D97-AF65-F5344CB8AC3E}">
        <p14:creationId xmlns:p14="http://schemas.microsoft.com/office/powerpoint/2010/main" val="3174446272"/>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6444</TotalTime>
  <Words>965</Words>
  <Application>Microsoft Macintosh PowerPoint</Application>
  <PresentationFormat>Geniş ekran</PresentationFormat>
  <Paragraphs>36</Paragraphs>
  <Slides>13</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13</vt:i4>
      </vt:variant>
    </vt:vector>
  </HeadingPairs>
  <TitlesOfParts>
    <vt:vector size="17" baseType="lpstr">
      <vt:lpstr>Aptos</vt:lpstr>
      <vt:lpstr>Arial</vt:lpstr>
      <vt:lpstr>Grandview Display</vt:lpstr>
      <vt:lpstr>DashVTI</vt:lpstr>
      <vt:lpstr>Early Warning Indicators of Currency Crises: A Pilot Analysis of the M2 Money Multiplier </vt:lpstr>
      <vt:lpstr>Introduction</vt:lpstr>
      <vt:lpstr>Does the M2 money multiplier help predict currency crises? </vt:lpstr>
      <vt:lpstr>PowerPoint Sunusu</vt:lpstr>
      <vt:lpstr>INTERPRETATION</vt:lpstr>
      <vt:lpstr>We estimated our baseline regression using heteroskedasticity-robust standard errors to ensure valid inference. The robust results remain consistent with the baseline model and confirm that lagged M2 growth has a positive persistence while country effects remain significant. </vt:lpstr>
      <vt:lpstr>Residual autocorrelation test: Regressing the residuals on their own lag shows no evidence of AR(1) serial correlation (lag coefficient ≈ –0.02, p = 0.78). Therefore, first-order autocorrelation is not a concern in our model. </vt:lpstr>
      <vt:lpstr>All VIF values are equal to 1, indicating that the explanatory variables are not correlated. There is no evidence of multicollinearity in the model. </vt:lpstr>
      <vt:lpstr>PowerPoint Sunusu</vt:lpstr>
      <vt:lpstr>PowerPoint Sunusu</vt:lpstr>
      <vt:lpstr>PowerPoint Sunusu</vt:lpstr>
      <vt:lpstr>Economic Interpretation </vt:lpstr>
      <vt:lpstr>Policy Interpretation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Nihad Isgandarli</dc:creator>
  <cp:lastModifiedBy>Nihad Isgandarli</cp:lastModifiedBy>
  <cp:revision>2</cp:revision>
  <dcterms:created xsi:type="dcterms:W3CDTF">2025-11-23T14:43:46Z</dcterms:created>
  <dcterms:modified xsi:type="dcterms:W3CDTF">2025-12-05T23:46:06Z</dcterms:modified>
</cp:coreProperties>
</file>